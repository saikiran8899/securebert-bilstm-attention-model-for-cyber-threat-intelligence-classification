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2">
  <p:sldMasterIdLst>
    <p:sldMasterId id="2147483893" r:id="rId1"/>
  </p:sldMasterIdLst>
  <p:sldIdLst>
    <p:sldId id="256" r:id="rId2"/>
    <p:sldId id="258" r:id="rId3"/>
    <p:sldId id="257" r:id="rId4"/>
    <p:sldId id="260" r:id="rId5"/>
    <p:sldId id="264" r:id="rId6"/>
    <p:sldId id="265" r:id="rId7"/>
    <p:sldId id="267" r:id="rId8"/>
    <p:sldId id="27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-246" y="7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5157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476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6502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994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526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065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163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78459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4989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449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061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506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4" r:id="rId1"/>
    <p:sldLayoutId id="2147483895" r:id="rId2"/>
    <p:sldLayoutId id="2147483896" r:id="rId3"/>
    <p:sldLayoutId id="2147483897" r:id="rId4"/>
    <p:sldLayoutId id="2147483898" r:id="rId5"/>
    <p:sldLayoutId id="2147483899" r:id="rId6"/>
    <p:sldLayoutId id="2147483900" r:id="rId7"/>
    <p:sldLayoutId id="2147483901" r:id="rId8"/>
    <p:sldLayoutId id="2147483902" r:id="rId9"/>
    <p:sldLayoutId id="2147483903" r:id="rId10"/>
    <p:sldLayoutId id="214748390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92220" y="2651760"/>
            <a:ext cx="1036289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latin typeface="Georgia"/>
              </a:rPr>
              <a:t>A Hybrid </a:t>
            </a:r>
            <a:r>
              <a:rPr sz="3600" b="1" i="0" dirty="0" err="1">
                <a:latin typeface="Georgia"/>
              </a:rPr>
              <a:t>SecureBERT</a:t>
            </a:r>
            <a:r>
              <a:rPr sz="3600" b="1" i="0" dirty="0">
                <a:latin typeface="Georgia"/>
              </a:rPr>
              <a:t>-</a:t>
            </a:r>
            <a:r>
              <a:rPr sz="3600" b="1" i="0" dirty="0" err="1">
                <a:latin typeface="Georgia"/>
              </a:rPr>
              <a:t>BiLSTM</a:t>
            </a:r>
            <a:r>
              <a:rPr sz="3600" b="1" i="0" dirty="0">
                <a:latin typeface="Georgia"/>
              </a:rPr>
              <a:t>-Attention Model for Cyber Threat Intelligence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2221" y="4880794"/>
            <a:ext cx="1036289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dirty="0">
                <a:solidFill>
                  <a:srgbClr val="64748B"/>
                </a:solidFill>
                <a:latin typeface="Arial"/>
              </a:rPr>
              <a:t>PRESENTER: SAIKIRAN  </a:t>
            </a:r>
          </a:p>
          <a:p>
            <a:pPr algn="l"/>
            <a:r>
              <a:rPr lang="en-US" sz="1400" b="0" i="0" dirty="0">
                <a:solidFill>
                  <a:srgbClr val="64748B"/>
                </a:solidFill>
                <a:latin typeface="Arial"/>
              </a:rPr>
              <a:t>STUDENT NUMBER: 3196603
MASTER OF SCIENCE IN COMPUTING SCIENCE  |  GRIFFITH COLLEGE DUBLIN
UNDER THE SUPERVISION OF :   ABUBAKR SIDDIG</a:t>
            </a:r>
          </a:p>
          <a:p>
            <a:pPr algn="l"/>
            <a:r>
              <a:rPr lang="en-US" sz="1400" b="0" i="0" dirty="0">
                <a:solidFill>
                  <a:srgbClr val="64748B"/>
                </a:solidFill>
                <a:latin typeface="Arial"/>
              </a:rPr>
              <a:t>SEPTEMBER 2026</a:t>
            </a:r>
          </a:p>
        </p:txBody>
      </p:sp>
      <p:pic>
        <p:nvPicPr>
          <p:cNvPr id="4" name="Picture 3" descr="logo.png">
            <a:extLst>
              <a:ext uri="{FF2B5EF4-FFF2-40B4-BE49-F238E27FC236}">
                <a16:creationId xmlns:a16="http://schemas.microsoft.com/office/drawing/2014/main" id="{30D1FF68-80F3-FBF9-97A1-1D39BE90B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5008" y="428015"/>
            <a:ext cx="3761983" cy="20063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10820095" cy="914400"/>
          </a:xfrm>
        </p:spPr>
        <p:txBody>
          <a:bodyPr wrap="square"/>
          <a:lstStyle/>
          <a:p>
            <a:pPr algn="l"/>
            <a:r>
              <a:rPr lang="en-US" sz="2800" b="1" dirty="0">
                <a:solidFill>
                  <a:srgbClr val="0F172A"/>
                </a:solidFill>
                <a:latin typeface="Georgia"/>
              </a:rPr>
              <a:t>1</a:t>
            </a:r>
            <a:r>
              <a:rPr sz="2800" b="1" i="0" dirty="0">
                <a:solidFill>
                  <a:srgbClr val="0F172A"/>
                </a:solidFill>
                <a:latin typeface="Georgia"/>
              </a:rPr>
              <a:t>.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3175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463039"/>
            <a:ext cx="5212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 i="0" dirty="0">
                <a:solidFill>
                  <a:srgbClr val="1D4ED8"/>
                </a:solidFill>
                <a:latin typeface="Georgia"/>
              </a:rPr>
              <a:t>Core Cybersecurity Triage Bottlenecks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5847" y="2560320"/>
            <a:ext cx="52120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D97706"/>
                </a:solidFill>
                <a:latin typeface="Georgia"/>
              </a:rPr>
              <a:t>⚠ Vocabulary Mismatch</a:t>
            </a:r>
          </a:p>
          <a:p>
            <a:r>
              <a:rPr sz="1200" b="0" i="0">
                <a:solidFill>
                  <a:srgbClr val="0F172A"/>
                </a:solidFill>
                <a:latin typeface="Arial"/>
              </a:rPr>
              <a:t>Cyber terms represent out-of-vocabulary anomalies to models trained on general web text, causing poor embedding quality.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5847" y="4297680"/>
            <a:ext cx="52120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D4ED8"/>
                </a:solidFill>
                <a:latin typeface="Georgia"/>
              </a:rPr>
              <a:t>⚠ Missing Standardized Labels</a:t>
            </a:r>
          </a:p>
          <a:p>
            <a:r>
              <a:rPr sz="1200" b="0" i="0">
                <a:solidFill>
                  <a:srgbClr val="0F172A"/>
                </a:solidFill>
                <a:latin typeface="Arial"/>
              </a:rPr>
              <a:t>CTI narratives are descriptive, meaning supervised models cannot be trained without first constructing a validated target class.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82BE25E-C6D2-92A9-DB53-5FDD4ED07080}"/>
              </a:ext>
            </a:extLst>
          </p:cNvPr>
          <p:cNvSpPr txBox="1">
            <a:spLocks/>
          </p:cNvSpPr>
          <p:nvPr/>
        </p:nvSpPr>
        <p:spPr>
          <a:xfrm>
            <a:off x="685800" y="2589530"/>
            <a:ext cx="5410047" cy="341630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400"/>
            </a:pPr>
            <a:r>
              <a:rPr lang="en-US" sz="2400" dirty="0"/>
              <a:t>CTI reports are largely unstructured.</a:t>
            </a:r>
          </a:p>
          <a:p>
            <a:pPr>
              <a:defRPr sz="2400"/>
            </a:pPr>
            <a:r>
              <a:rPr lang="en-US" sz="2400" dirty="0"/>
              <a:t>Manual categorization is time-consuming.</a:t>
            </a:r>
          </a:p>
          <a:p>
            <a:pPr>
              <a:defRPr sz="2400"/>
            </a:pPr>
            <a:r>
              <a:rPr lang="en-US" sz="2400" dirty="0"/>
              <a:t>Entity-rich cybersecurity text is difficult to classify.</a:t>
            </a:r>
          </a:p>
          <a:p>
            <a:pPr>
              <a:defRPr sz="2400"/>
            </a:pPr>
            <a:r>
              <a:rPr lang="en-US" sz="2400" dirty="0"/>
              <a:t>Need an accurate automated classification framework.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10820095" cy="914400"/>
          </a:xfrm>
        </p:spPr>
        <p:txBody>
          <a:bodyPr wrap="square"/>
          <a:lstStyle/>
          <a:p>
            <a:pPr algn="l"/>
            <a:r>
              <a:rPr lang="en-US" sz="2800" b="1" dirty="0">
                <a:solidFill>
                  <a:srgbClr val="0F172A"/>
                </a:solidFill>
                <a:latin typeface="Georgia"/>
              </a:rPr>
              <a:t>2</a:t>
            </a:r>
            <a:r>
              <a:rPr sz="2800" b="1" i="0" dirty="0">
                <a:solidFill>
                  <a:srgbClr val="0F172A"/>
                </a:solidFill>
                <a:latin typeface="Georgia"/>
              </a:rPr>
              <a:t>. 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3175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659615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800" b="1" i="0" dirty="0">
                <a:solidFill>
                  <a:srgbClr val="1D4ED8"/>
                </a:solidFill>
                <a:latin typeface="Georgia"/>
              </a:rPr>
              <a:t>Dissertation Core Focus</a:t>
            </a:r>
            <a:endParaRPr lang="en-GB" sz="2800" b="1" i="0" dirty="0">
              <a:solidFill>
                <a:srgbClr val="1D4ED8"/>
              </a:solidFill>
              <a:latin typeface="Georgia"/>
            </a:endParaRPr>
          </a:p>
          <a:p>
            <a:pPr>
              <a:spcAft>
                <a:spcPts val="800"/>
              </a:spcAft>
            </a:pPr>
            <a:endParaRPr lang="en-US" b="0" i="0" dirty="0">
              <a:solidFill>
                <a:srgbClr val="0F172A"/>
              </a:solidFill>
              <a:latin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EB809D-C5A2-7141-D976-4B846016E4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57" r="16697"/>
          <a:stretch/>
        </p:blipFill>
        <p:spPr bwMode="auto">
          <a:xfrm>
            <a:off x="7281950" y="1681479"/>
            <a:ext cx="4555375" cy="413446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A5D33867-7EEF-9C40-F794-C1C7F13D4F33}"/>
              </a:ext>
            </a:extLst>
          </p:cNvPr>
          <p:cNvSpPr txBox="1">
            <a:spLocks/>
          </p:cNvSpPr>
          <p:nvPr/>
        </p:nvSpPr>
        <p:spPr>
          <a:xfrm>
            <a:off x="497222" y="2568391"/>
            <a:ext cx="6596150" cy="3557431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400"/>
            </a:pPr>
            <a:r>
              <a:rPr lang="en-US" sz="2400" dirty="0"/>
              <a:t>Develop an automated CTI text classification system.</a:t>
            </a:r>
          </a:p>
          <a:p>
            <a:pPr>
              <a:defRPr sz="2400"/>
            </a:pPr>
            <a:r>
              <a:rPr lang="en-US" sz="2400" dirty="0"/>
              <a:t>Convert CTI reports into document-level threat categories.</a:t>
            </a:r>
          </a:p>
          <a:p>
            <a:pPr>
              <a:defRPr sz="2400"/>
            </a:pPr>
            <a:r>
              <a:rPr lang="en-US" sz="2400" dirty="0"/>
              <a:t>Compare classical, deep learning and hybrid models.</a:t>
            </a:r>
          </a:p>
          <a:p>
            <a:pPr>
              <a:defRPr sz="2400"/>
            </a:pPr>
            <a:r>
              <a:rPr lang="en-US" sz="2400" dirty="0"/>
              <a:t>Support security analysts with automated </a:t>
            </a:r>
            <a:r>
              <a:rPr lang="en-US" sz="2400" dirty="0" err="1"/>
              <a:t>categorisation</a:t>
            </a:r>
            <a:r>
              <a:rPr lang="en-US" sz="24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10820095" cy="914400"/>
          </a:xfrm>
        </p:spPr>
        <p:txBody>
          <a:bodyPr wrap="square"/>
          <a:lstStyle/>
          <a:p>
            <a:pPr algn="l"/>
            <a:r>
              <a:rPr lang="en-US" sz="2800" b="1" dirty="0">
                <a:solidFill>
                  <a:srgbClr val="0F172A"/>
                </a:solidFill>
                <a:latin typeface="Georgia"/>
              </a:rPr>
              <a:t>3</a:t>
            </a:r>
            <a:r>
              <a:rPr sz="2800" b="1" i="0" dirty="0">
                <a:solidFill>
                  <a:srgbClr val="0F172A"/>
                </a:solidFill>
                <a:latin typeface="Georgia"/>
              </a:rPr>
              <a:t>. Dataset Description</a:t>
            </a:r>
            <a:r>
              <a:rPr lang="en-US" sz="2800" b="1" i="0" dirty="0">
                <a:solidFill>
                  <a:srgbClr val="0F172A"/>
                </a:solidFill>
                <a:latin typeface="Georgia"/>
              </a:rPr>
              <a:t> and preprocessing</a:t>
            </a:r>
            <a:endParaRPr sz="2800" b="1" i="0" dirty="0">
              <a:solidFill>
                <a:srgbClr val="0F172A"/>
              </a:solidFill>
              <a:latin typeface="Georgia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3175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5120640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 i="0" dirty="0">
                <a:solidFill>
                  <a:srgbClr val="1D4ED8"/>
                </a:solidFill>
                <a:latin typeface="Georgia"/>
              </a:rPr>
              <a:t>Dataset Architecture &amp; Composition</a:t>
            </a:r>
          </a:p>
          <a:p>
            <a:pPr>
              <a:spcAft>
                <a:spcPts val="800"/>
              </a:spcAft>
            </a:pPr>
            <a:r>
              <a:rPr sz="1400" b="0" i="0" dirty="0">
                <a:solidFill>
                  <a:srgbClr val="0F172A"/>
                </a:solidFill>
                <a:latin typeface="Arial"/>
              </a:rPr>
              <a:t>•  Source : </a:t>
            </a:r>
            <a:r>
              <a:rPr lang="en-US" sz="1400" b="0" i="0" dirty="0">
                <a:solidFill>
                  <a:srgbClr val="0F172A"/>
                </a:solidFill>
                <a:latin typeface="Arial"/>
              </a:rPr>
              <a:t>Kaggle</a:t>
            </a:r>
          </a:p>
          <a:p>
            <a:pPr>
              <a:spcAft>
                <a:spcPts val="800"/>
              </a:spcAft>
            </a:pPr>
            <a:br>
              <a:rPr lang="en-US" sz="1400" b="0" i="0" dirty="0">
                <a:solidFill>
                  <a:srgbClr val="0F172A"/>
                </a:solidFill>
                <a:latin typeface="Arial"/>
              </a:rPr>
            </a:br>
            <a:r>
              <a:rPr sz="1400" b="0" i="0" dirty="0">
                <a:solidFill>
                  <a:srgbClr val="0F172A"/>
                </a:solidFill>
                <a:latin typeface="Arial"/>
              </a:rPr>
              <a:t>• Dataset Scale: total of 1,420 records</a:t>
            </a:r>
            <a:endParaRPr lang="en-US" sz="1400" b="0" i="0" dirty="0">
              <a:solidFill>
                <a:srgbClr val="0F172A"/>
              </a:solidFill>
              <a:latin typeface="Arial"/>
            </a:endParaRPr>
          </a:p>
          <a:p>
            <a:pPr>
              <a:spcAft>
                <a:spcPts val="800"/>
              </a:spcAft>
            </a:pPr>
            <a:endParaRPr lang="en-US" sz="1400" b="0" i="0" dirty="0">
              <a:solidFill>
                <a:srgbClr val="0F172A"/>
              </a:solidFill>
              <a:latin typeface="Arial"/>
            </a:endParaRPr>
          </a:p>
          <a:p>
            <a:pPr>
              <a:spcAft>
                <a:spcPts val="800"/>
              </a:spcAft>
            </a:pPr>
            <a:r>
              <a:rPr sz="1400" b="0" i="0" dirty="0">
                <a:solidFill>
                  <a:srgbClr val="0F172A"/>
                </a:solidFill>
                <a:latin typeface="Arial"/>
              </a:rPr>
              <a:t>•  Class Categories: Mapped to 8 major operational domains (DoS, Espionage/APT, Vulnerability, Data Breach, etc.).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608E3D-9E7E-F1B5-763A-C8E0C45408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28" r="24509" b="60308"/>
          <a:stretch/>
        </p:blipFill>
        <p:spPr bwMode="auto">
          <a:xfrm>
            <a:off x="173334" y="3960009"/>
            <a:ext cx="5786905" cy="269734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CBB2D36-1039-D91A-4CBA-A81747E645AA}"/>
              </a:ext>
            </a:extLst>
          </p:cNvPr>
          <p:cNvSpPr txBox="1">
            <a:spLocks/>
          </p:cNvSpPr>
          <p:nvPr/>
        </p:nvSpPr>
        <p:spPr>
          <a:xfrm>
            <a:off x="6095848" y="3960009"/>
            <a:ext cx="8383828" cy="341630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400"/>
            </a:pPr>
            <a:r>
              <a:rPr lang="en-US" sz="2400" dirty="0"/>
              <a:t>Handle missing values.</a:t>
            </a:r>
          </a:p>
          <a:p>
            <a:pPr>
              <a:defRPr sz="2400"/>
            </a:pPr>
            <a:r>
              <a:rPr lang="en-US" sz="2400" dirty="0" err="1"/>
              <a:t>Normalise</a:t>
            </a:r>
            <a:r>
              <a:rPr lang="en-US" sz="2400" dirty="0"/>
              <a:t> entity labels.</a:t>
            </a:r>
          </a:p>
          <a:p>
            <a:pPr>
              <a:defRPr sz="2400"/>
            </a:pPr>
            <a:r>
              <a:rPr lang="en-US" sz="2400" dirty="0"/>
              <a:t>Clean text formatting.</a:t>
            </a:r>
          </a:p>
          <a:p>
            <a:pPr>
              <a:defRPr sz="2400"/>
            </a:pPr>
            <a:r>
              <a:rPr lang="en-US" sz="2400" dirty="0"/>
              <a:t>Combine text and diagnosis.</a:t>
            </a:r>
          </a:p>
          <a:p>
            <a:pPr>
              <a:defRPr sz="2400"/>
            </a:pPr>
            <a:r>
              <a:rPr lang="en-US" sz="2400" dirty="0"/>
              <a:t>Prepare TF-IDF and transformer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10820095" cy="914400"/>
          </a:xfrm>
        </p:spPr>
        <p:txBody>
          <a:bodyPr wrap="square"/>
          <a:lstStyle/>
          <a:p>
            <a:pPr algn="l"/>
            <a:r>
              <a:rPr lang="en-US" sz="2800" b="1" dirty="0">
                <a:solidFill>
                  <a:srgbClr val="0F172A"/>
                </a:solidFill>
                <a:latin typeface="Georgia"/>
              </a:rPr>
              <a:t>4</a:t>
            </a:r>
            <a:r>
              <a:rPr sz="2800" b="1" i="0" dirty="0">
                <a:solidFill>
                  <a:srgbClr val="0F172A"/>
                </a:solidFill>
                <a:latin typeface="Georgia"/>
              </a:rPr>
              <a:t>. Exploratory Data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3175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5120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 i="0" dirty="0">
                <a:solidFill>
                  <a:srgbClr val="1D4ED8"/>
                </a:solidFill>
                <a:latin typeface="Georgia"/>
              </a:rPr>
              <a:t>Profiling Class &amp; Entity Distributions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15204F2-DF82-EB66-7913-3AD658B6D6FA}"/>
              </a:ext>
            </a:extLst>
          </p:cNvPr>
          <p:cNvSpPr txBox="1">
            <a:spLocks/>
          </p:cNvSpPr>
          <p:nvPr/>
        </p:nvSpPr>
        <p:spPr>
          <a:xfrm>
            <a:off x="188635" y="2393640"/>
            <a:ext cx="8825659" cy="341630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400"/>
            </a:pPr>
            <a:r>
              <a:rPr lang="en-US" sz="2400" dirty="0"/>
              <a:t>Class distribution</a:t>
            </a:r>
          </a:p>
          <a:p>
            <a:pPr>
              <a:defRPr sz="2400"/>
            </a:pPr>
            <a:r>
              <a:rPr lang="en-US" sz="2400" dirty="0"/>
              <a:t>Text length analysis</a:t>
            </a:r>
          </a:p>
          <a:p>
            <a:pPr>
              <a:defRPr sz="2400"/>
            </a:pPr>
            <a:r>
              <a:rPr lang="en-US" sz="2400" dirty="0"/>
              <a:t>Entity frequency</a:t>
            </a:r>
          </a:p>
          <a:p>
            <a:pPr>
              <a:defRPr sz="2400"/>
            </a:pPr>
            <a:r>
              <a:rPr lang="en-US" sz="2400" dirty="0"/>
              <a:t>Feature relationships</a:t>
            </a:r>
          </a:p>
          <a:p>
            <a:pPr>
              <a:defRPr sz="2400"/>
            </a:pPr>
            <a:r>
              <a:rPr lang="en-US" sz="2400" dirty="0"/>
              <a:t>Threat category insights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CE76B6-984E-F199-2CFF-DC0303689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7650" y="1773761"/>
            <a:ext cx="3575715" cy="26642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D506E33-0DC8-A4BB-D642-21348F475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174" y="1766525"/>
            <a:ext cx="4019049" cy="26642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E88DBF4-4BDE-1FBF-7594-941BC426B5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8450" y="4984090"/>
            <a:ext cx="4284915" cy="17471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8087A42-25FD-0FAF-B9C6-A4063DAE36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0173" y="4438037"/>
            <a:ext cx="2517405" cy="229317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10820095" cy="914400"/>
          </a:xfrm>
        </p:spPr>
        <p:txBody>
          <a:bodyPr wrap="square">
            <a:normAutofit/>
          </a:bodyPr>
          <a:lstStyle/>
          <a:p>
            <a:pPr algn="l"/>
            <a:r>
              <a:rPr lang="en-US" sz="3200" b="1" dirty="0">
                <a:solidFill>
                  <a:srgbClr val="0F172A"/>
                </a:solidFill>
                <a:latin typeface="Georgia"/>
              </a:rPr>
              <a:t>5</a:t>
            </a:r>
            <a:r>
              <a:rPr sz="3200" b="1" i="0" dirty="0">
                <a:solidFill>
                  <a:srgbClr val="0F172A"/>
                </a:solidFill>
                <a:latin typeface="Georgia"/>
              </a:rPr>
              <a:t>. Models Implemented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3175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TextBox 3"/>
          <p:cNvSpPr txBox="1"/>
          <p:nvPr/>
        </p:nvSpPr>
        <p:spPr>
          <a:xfrm>
            <a:off x="1083013" y="1523351"/>
            <a:ext cx="10016248" cy="2482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b="1" i="0" dirty="0">
                <a:solidFill>
                  <a:srgbClr val="1D4ED8"/>
                </a:solidFill>
                <a:latin typeface="Georgia"/>
              </a:rPr>
              <a:t>Baseline Classifiers Evaluated</a:t>
            </a:r>
          </a:p>
          <a:p>
            <a:pPr>
              <a:spcAft>
                <a:spcPts val="800"/>
              </a:spcAft>
            </a:pPr>
            <a:r>
              <a:rPr b="0" i="0" dirty="0">
                <a:solidFill>
                  <a:srgbClr val="0F172A"/>
                </a:solidFill>
                <a:latin typeface="Arial"/>
              </a:rPr>
              <a:t>•  TF-IDF Logistic Regression: Simple linear model processing word unigrams and bigrams capped at 3,000 features.</a:t>
            </a:r>
          </a:p>
          <a:p>
            <a:pPr>
              <a:spcAft>
                <a:spcPts val="800"/>
              </a:spcAft>
            </a:pPr>
            <a:r>
              <a:rPr b="0" i="0" dirty="0">
                <a:solidFill>
                  <a:srgbClr val="0F172A"/>
                </a:solidFill>
                <a:latin typeface="Arial"/>
              </a:rPr>
              <a:t>•  TF-IDF Support Vector Machine (SVM): Fitted with linear kernel as a highly robust high-dimensional lexical benchmark.</a:t>
            </a:r>
          </a:p>
          <a:p>
            <a:pPr>
              <a:spcAft>
                <a:spcPts val="800"/>
              </a:spcAft>
            </a:pPr>
            <a:r>
              <a:rPr b="0" i="0" dirty="0">
                <a:solidFill>
                  <a:srgbClr val="0F172A"/>
                </a:solidFill>
                <a:latin typeface="Arial"/>
              </a:rPr>
              <a:t>•  </a:t>
            </a:r>
            <a:r>
              <a:rPr b="0" i="0" dirty="0" err="1">
                <a:solidFill>
                  <a:srgbClr val="0F172A"/>
                </a:solidFill>
                <a:latin typeface="Arial"/>
              </a:rPr>
              <a:t>BiLSTM</a:t>
            </a:r>
            <a:r>
              <a:rPr b="0" i="0" dirty="0">
                <a:solidFill>
                  <a:srgbClr val="0F172A"/>
                </a:solidFill>
                <a:latin typeface="Arial"/>
              </a:rPr>
              <a:t> (from scratch): Bidirectional LSTM trained purely on the local threat dataset without pre-trained language representations.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96502" y="4101181"/>
            <a:ext cx="10016248" cy="2586585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200"/>
              </a:spcAft>
            </a:pPr>
            <a:r>
              <a:rPr sz="2000" b="1" i="0" dirty="0">
                <a:solidFill>
                  <a:srgbClr val="1D4ED8"/>
                </a:solidFill>
                <a:latin typeface="Georgia"/>
              </a:rPr>
              <a:t>Proposed: </a:t>
            </a:r>
            <a:r>
              <a:rPr sz="2000" b="1" i="0" dirty="0" err="1">
                <a:solidFill>
                  <a:srgbClr val="1D4ED8"/>
                </a:solidFill>
                <a:latin typeface="Georgia"/>
              </a:rPr>
              <a:t>SecureBERT</a:t>
            </a:r>
            <a:r>
              <a:rPr sz="2000" b="1" i="0" dirty="0">
                <a:solidFill>
                  <a:srgbClr val="1D4ED8"/>
                </a:solidFill>
                <a:latin typeface="Georgia"/>
              </a:rPr>
              <a:t>-</a:t>
            </a:r>
            <a:r>
              <a:rPr sz="2000" b="1" i="0" dirty="0" err="1">
                <a:solidFill>
                  <a:srgbClr val="1D4ED8"/>
                </a:solidFill>
                <a:latin typeface="Georgia"/>
              </a:rPr>
              <a:t>BiLSTM</a:t>
            </a:r>
            <a:r>
              <a:rPr sz="2000" b="1" i="0" dirty="0">
                <a:solidFill>
                  <a:srgbClr val="1D4ED8"/>
                </a:solidFill>
                <a:latin typeface="Georgia"/>
              </a:rPr>
              <a:t>-Attention</a:t>
            </a:r>
          </a:p>
          <a:p>
            <a:pPr>
              <a:spcAft>
                <a:spcPts val="800"/>
              </a:spcAft>
            </a:pPr>
            <a:r>
              <a:rPr sz="1400" b="0" i="0" dirty="0">
                <a:solidFill>
                  <a:srgbClr val="0F172A"/>
                </a:solidFill>
                <a:latin typeface="Arial"/>
              </a:rPr>
              <a:t>The proposed model is structured in four specialized sequential layers to balance representation and context:</a:t>
            </a:r>
          </a:p>
          <a:p>
            <a:pPr>
              <a:spcAft>
                <a:spcPts val="200"/>
              </a:spcAft>
            </a:pPr>
            <a:r>
              <a:rPr sz="1400" b="1" i="0" dirty="0">
                <a:solidFill>
                  <a:srgbClr val="1D4ED8"/>
                </a:solidFill>
                <a:latin typeface="Arial"/>
              </a:rPr>
              <a:t>Layer 1: Encoder: </a:t>
            </a:r>
            <a:r>
              <a:rPr sz="1400" b="0" i="0" dirty="0" err="1">
                <a:solidFill>
                  <a:srgbClr val="0F172A"/>
                </a:solidFill>
                <a:latin typeface="Arial"/>
              </a:rPr>
              <a:t>SecureBERT</a:t>
            </a:r>
            <a:r>
              <a:rPr sz="1400" b="0" i="0" dirty="0">
                <a:solidFill>
                  <a:srgbClr val="0F172A"/>
                </a:solidFill>
                <a:latin typeface="Arial"/>
              </a:rPr>
              <a:t> - domain-adapted encoder pre-trained exclusively on cybersecurity-specific vocabulary.</a:t>
            </a:r>
          </a:p>
          <a:p>
            <a:pPr>
              <a:spcAft>
                <a:spcPts val="200"/>
              </a:spcAft>
            </a:pPr>
            <a:r>
              <a:rPr sz="1400" b="1" i="0" dirty="0">
                <a:solidFill>
                  <a:srgbClr val="1D4ED8"/>
                </a:solidFill>
                <a:latin typeface="Arial"/>
              </a:rPr>
              <a:t>Layer 2: Recurrent: </a:t>
            </a:r>
            <a:r>
              <a:rPr sz="1400" b="0" i="0" dirty="0">
                <a:solidFill>
                  <a:srgbClr val="0F172A"/>
                </a:solidFill>
                <a:latin typeface="Arial"/>
              </a:rPr>
              <a:t>Bidirectional LSTM - captures sequential dependencies and models context bidirectionally.</a:t>
            </a:r>
          </a:p>
          <a:p>
            <a:pPr>
              <a:spcAft>
                <a:spcPts val="200"/>
              </a:spcAft>
            </a:pPr>
            <a:r>
              <a:rPr sz="1400" b="1" i="0" dirty="0">
                <a:solidFill>
                  <a:srgbClr val="1D4ED8"/>
                </a:solidFill>
                <a:latin typeface="Arial"/>
              </a:rPr>
              <a:t>Layer 3: Attention: </a:t>
            </a:r>
            <a:r>
              <a:rPr sz="1400" b="0" i="0" dirty="0">
                <a:solidFill>
                  <a:srgbClr val="0F172A"/>
                </a:solidFill>
                <a:latin typeface="Arial"/>
              </a:rPr>
              <a:t>Additive Attention - computes learned token weights to pool sequence features interpretably.</a:t>
            </a:r>
          </a:p>
          <a:p>
            <a:pPr>
              <a:spcAft>
                <a:spcPts val="200"/>
              </a:spcAft>
            </a:pPr>
            <a:r>
              <a:rPr sz="1400" b="1" i="0" dirty="0">
                <a:solidFill>
                  <a:srgbClr val="1D4ED8"/>
                </a:solidFill>
                <a:latin typeface="Arial"/>
              </a:rPr>
              <a:t>Layer 4: Classifier: </a:t>
            </a:r>
            <a:r>
              <a:rPr sz="1400" b="0" i="0" dirty="0">
                <a:solidFill>
                  <a:srgbClr val="0F172A"/>
                </a:solidFill>
                <a:latin typeface="Arial"/>
              </a:rPr>
              <a:t>Linear Head - mapping grouped hidden representations to 8 threat category probabilities.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10820095" cy="914400"/>
          </a:xfrm>
        </p:spPr>
        <p:txBody>
          <a:bodyPr wrap="square"/>
          <a:lstStyle/>
          <a:p>
            <a:pPr algn="l"/>
            <a:r>
              <a:rPr lang="en-US" sz="2800" b="1" dirty="0">
                <a:solidFill>
                  <a:srgbClr val="0F172A"/>
                </a:solidFill>
                <a:latin typeface="Georgia"/>
              </a:rPr>
              <a:t>6</a:t>
            </a:r>
            <a:r>
              <a:rPr sz="2800" b="1" i="0" dirty="0">
                <a:solidFill>
                  <a:srgbClr val="0F172A"/>
                </a:solidFill>
                <a:latin typeface="Georgia"/>
              </a:rPr>
              <a:t>. </a:t>
            </a:r>
            <a:r>
              <a:rPr lang="en-US" sz="2800" b="1" i="0" dirty="0">
                <a:solidFill>
                  <a:srgbClr val="0F172A"/>
                </a:solidFill>
                <a:latin typeface="Georgia"/>
              </a:rPr>
              <a:t>Evaluation ,</a:t>
            </a:r>
            <a:r>
              <a:rPr sz="2800" b="1" i="0" dirty="0">
                <a:solidFill>
                  <a:srgbClr val="0F172A"/>
                </a:solidFill>
                <a:latin typeface="Georgia"/>
              </a:rPr>
              <a:t>Comparison and Best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3175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45920"/>
          <a:ext cx="58521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Model Candidate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Accuracy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Precision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Recall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Macro-F1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F172A"/>
                          </a:solidFill>
                          <a:latin typeface="Arial"/>
                        </a:rPr>
                        <a:t>BiLSTM (from scratch)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F172A"/>
                          </a:solidFill>
                          <a:latin typeface="Arial"/>
                        </a:rPr>
                        <a:t>0.8507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F172A"/>
                          </a:solidFill>
                          <a:latin typeface="Arial"/>
                        </a:rPr>
                        <a:t>0.8716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F172A"/>
                          </a:solidFill>
                          <a:latin typeface="Arial"/>
                        </a:rPr>
                        <a:t>0.8568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F172A"/>
                          </a:solidFill>
                          <a:latin typeface="Arial"/>
                        </a:rPr>
                        <a:t>0.8632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F172A"/>
                          </a:solidFill>
                          <a:latin typeface="Arial"/>
                        </a:rPr>
                        <a:t>TF-IDF + LogReg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F172A"/>
                          </a:solidFill>
                          <a:latin typeface="Arial"/>
                        </a:rPr>
                        <a:t>0.8937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F172A"/>
                          </a:solidFill>
                          <a:latin typeface="Arial"/>
                        </a:rPr>
                        <a:t>0.9232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F172A"/>
                          </a:solidFill>
                          <a:latin typeface="Arial"/>
                        </a:rPr>
                        <a:t>0.8933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F172A"/>
                          </a:solidFill>
                          <a:latin typeface="Arial"/>
                        </a:rPr>
                        <a:t>0.9054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F172A"/>
                          </a:solidFill>
                          <a:latin typeface="Arial"/>
                        </a:rPr>
                        <a:t>TF-IDF + SVM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F172A"/>
                          </a:solidFill>
                          <a:latin typeface="Arial"/>
                        </a:rPr>
                        <a:t>0.8993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F172A"/>
                          </a:solidFill>
                          <a:latin typeface="Arial"/>
                        </a:rPr>
                        <a:t>0.9262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F172A"/>
                          </a:solidFill>
                          <a:latin typeface="Arial"/>
                        </a:rPr>
                        <a:t>0.8979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F172A"/>
                          </a:solidFill>
                          <a:latin typeface="Arial"/>
                        </a:rPr>
                        <a:t>0.9097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F172A"/>
                          </a:solidFill>
                          <a:latin typeface="Arial"/>
                        </a:rPr>
                        <a:t>Hybrid (Proposed)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F172A"/>
                          </a:solidFill>
                          <a:latin typeface="Arial"/>
                        </a:rPr>
                        <a:t>0.9359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F172A"/>
                          </a:solidFill>
                          <a:latin typeface="Arial"/>
                        </a:rPr>
                        <a:t>0.9422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F172A"/>
                          </a:solidFill>
                          <a:latin typeface="Arial"/>
                        </a:rPr>
                        <a:t>0.9336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F172A"/>
                          </a:solidFill>
                          <a:latin typeface="Arial"/>
                        </a:rPr>
                        <a:t>0.9372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766560" y="1645920"/>
            <a:ext cx="4739335" cy="1690667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000"/>
              </a:spcAft>
            </a:pPr>
            <a:r>
              <a:rPr sz="1800" b="1" i="0" dirty="0">
                <a:solidFill>
                  <a:srgbClr val="1D4ED8"/>
                </a:solidFill>
                <a:latin typeface="Georgia"/>
              </a:rPr>
              <a:t>Optimal Model Analysis</a:t>
            </a:r>
          </a:p>
          <a:p>
            <a:pPr>
              <a:spcAft>
                <a:spcPts val="600"/>
              </a:spcAft>
            </a:pPr>
            <a:r>
              <a:rPr sz="1200" b="0" i="0" dirty="0">
                <a:solidFill>
                  <a:srgbClr val="0F172A"/>
                </a:solidFill>
                <a:latin typeface="Arial"/>
              </a:rPr>
              <a:t>✔ Best Performer: The hybrid </a:t>
            </a:r>
            <a:r>
              <a:rPr sz="1200" b="0" i="0" dirty="0" err="1">
                <a:solidFill>
                  <a:srgbClr val="0F172A"/>
                </a:solidFill>
                <a:latin typeface="Arial"/>
              </a:rPr>
              <a:t>SecureBERT</a:t>
            </a:r>
            <a:r>
              <a:rPr sz="1200" b="0" i="0" dirty="0">
                <a:solidFill>
                  <a:srgbClr val="0F172A"/>
                </a:solidFill>
                <a:latin typeface="Arial"/>
              </a:rPr>
              <a:t>-</a:t>
            </a:r>
            <a:r>
              <a:rPr sz="1200" b="0" i="0" dirty="0" err="1">
                <a:solidFill>
                  <a:srgbClr val="0F172A"/>
                </a:solidFill>
                <a:latin typeface="Arial"/>
              </a:rPr>
              <a:t>BiLSTM</a:t>
            </a:r>
            <a:r>
              <a:rPr sz="1200" b="0" i="0" dirty="0">
                <a:solidFill>
                  <a:srgbClr val="0F172A"/>
                </a:solidFill>
                <a:latin typeface="Arial"/>
              </a:rPr>
              <a:t>-Attention configuration secures Rank 1 overall with a 0.9372 Macro-F1.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9C00B5-943C-DDD4-676D-7A42D3C95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3703320"/>
            <a:ext cx="4623898" cy="25456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10820095" cy="914400"/>
          </a:xfrm>
        </p:spPr>
        <p:txBody>
          <a:bodyPr wrap="square"/>
          <a:lstStyle/>
          <a:p>
            <a:pPr algn="l"/>
            <a:r>
              <a:rPr lang="en-US" sz="2800" b="1" dirty="0">
                <a:solidFill>
                  <a:srgbClr val="0F172A"/>
                </a:solidFill>
                <a:latin typeface="Georgia"/>
              </a:rPr>
              <a:t>7</a:t>
            </a:r>
            <a:r>
              <a:rPr sz="2800" b="1" i="0" dirty="0">
                <a:solidFill>
                  <a:srgbClr val="0F172A"/>
                </a:solidFill>
                <a:latin typeface="Georgia"/>
              </a:rPr>
              <a:t>.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3175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09FEC61-A348-7705-C8F8-0CB44AF88C3D}"/>
              </a:ext>
            </a:extLst>
          </p:cNvPr>
          <p:cNvSpPr txBox="1">
            <a:spLocks/>
          </p:cNvSpPr>
          <p:nvPr/>
        </p:nvSpPr>
        <p:spPr>
          <a:xfrm>
            <a:off x="988700" y="2252980"/>
            <a:ext cx="8825659" cy="341630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400"/>
            </a:pPr>
            <a:r>
              <a:rPr lang="en-US" sz="2400" dirty="0"/>
              <a:t>Developed a complete CTI classification workflow.</a:t>
            </a:r>
          </a:p>
          <a:p>
            <a:pPr>
              <a:defRPr sz="2400"/>
            </a:pPr>
            <a:r>
              <a:rPr lang="en-US" sz="2400" dirty="0"/>
              <a:t>Compared multiple modelling approaches.</a:t>
            </a:r>
          </a:p>
          <a:p>
            <a:pPr>
              <a:defRPr sz="2400"/>
            </a:pPr>
            <a:r>
              <a:rPr lang="en-US" sz="2400" dirty="0"/>
              <a:t>Proposed a </a:t>
            </a:r>
            <a:r>
              <a:rPr lang="en-US" sz="2400" dirty="0" err="1"/>
              <a:t>SecureBERT</a:t>
            </a:r>
            <a:r>
              <a:rPr lang="en-US" sz="2400" dirty="0"/>
              <a:t>–</a:t>
            </a:r>
            <a:r>
              <a:rPr lang="en-US" sz="2400" dirty="0" err="1"/>
              <a:t>BiLSTM</a:t>
            </a:r>
            <a:r>
              <a:rPr lang="en-US" sz="2400" dirty="0"/>
              <a:t>–Attention hybrid.</a:t>
            </a:r>
          </a:p>
          <a:p>
            <a:pPr>
              <a:defRPr sz="2400"/>
            </a:pPr>
            <a:r>
              <a:rPr lang="en-US" sz="2400" dirty="0"/>
              <a:t>Evaluated and Explored </a:t>
            </a:r>
            <a:r>
              <a:rPr lang="en-US" dirty="0"/>
              <a:t>classical, deep learning and hybrid models.</a:t>
            </a:r>
            <a:endParaRPr lang="en-US" sz="2400" dirty="0"/>
          </a:p>
          <a:p>
            <a:pPr>
              <a:defRPr sz="2400"/>
            </a:pPr>
            <a:r>
              <a:rPr lang="en-US" sz="2400" dirty="0"/>
              <a:t>Foundation for future cybersecurity text classification research.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71</TotalTime>
  <Words>505</Words>
  <Application>Microsoft Office PowerPoint</Application>
  <PresentationFormat>Widescreen</PresentationFormat>
  <Paragraphs>83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Century Gothic</vt:lpstr>
      <vt:lpstr>Garamond</vt:lpstr>
      <vt:lpstr>Georgia</vt:lpstr>
      <vt:lpstr>Savon</vt:lpstr>
      <vt:lpstr>PowerPoint Presentation</vt:lpstr>
      <vt:lpstr>1. Problem Statement</vt:lpstr>
      <vt:lpstr>2. Project Overview</vt:lpstr>
      <vt:lpstr>3. Dataset Description and preprocessing</vt:lpstr>
      <vt:lpstr>4. Exploratory Data Analysis</vt:lpstr>
      <vt:lpstr>5. Models Implemented</vt:lpstr>
      <vt:lpstr>6. Evaluation ,Comparison and Best Model</vt:lpstr>
      <vt:lpstr>7.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junaid</dc:creator>
  <cp:keywords/>
  <dc:description>generated using python-pptx</dc:description>
  <cp:lastModifiedBy>mohammed moinuddin</cp:lastModifiedBy>
  <cp:revision>5</cp:revision>
  <dcterms:created xsi:type="dcterms:W3CDTF">2013-01-27T09:14:16Z</dcterms:created>
  <dcterms:modified xsi:type="dcterms:W3CDTF">2026-09-06T05:37:45Z</dcterms:modified>
  <cp:category/>
</cp:coreProperties>
</file>